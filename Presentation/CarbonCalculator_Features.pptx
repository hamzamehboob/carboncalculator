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7" d="100"/>
          <a:sy n="107" d="100"/>
        </p:scale>
        <p:origin x="754" y="6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150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199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84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3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031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73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2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376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241EB5C9-1307-BA42-ABA2-0BC069CD8E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588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57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607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48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Carbon Calculator - Features and Functionalities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Carbon Calculator Platform</a:t>
            </a:r>
          </a:p>
          <a:p>
            <a:pPr lvl="0"/>
            <a:r>
              <a:t>Multi-site carbon accounting, tracking, and reporting</a:t>
            </a:r>
          </a:p>
          <a:p>
            <a:pPr lvl="0"/>
            <a:r>
              <a:t>GHG Protocol aligned workflow for operational use</a:t>
            </a:r>
          </a:p>
          <a:p>
            <a:pPr lvl="0"/>
            <a:r>
              <a:t>Presenter note: “This platform combines emissions accounting and practical business reporting in one place.”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Web application to collect activity data and convert it into CO2e emissions</a:t>
            </a:r>
          </a:p>
          <a:p>
            <a:pPr lvl="0"/>
            <a:r>
              <a:t>Supports multiple organizations, each with multiple sites/buildings</a:t>
            </a:r>
          </a:p>
          <a:p>
            <a:pPr lvl="0"/>
            <a:r>
              <a:t>Combines carbon data, financial indicators, dashboards, and reporting exports</a:t>
            </a:r>
          </a:p>
          <a:p>
            <a:pPr lvl="0"/>
            <a:r>
              <a:t>Tech stack: frontend (HTML/CSS/JS), backend API (Flask + MongoDB), Streamlit launcher</a:t>
            </a:r>
          </a:p>
          <a:p>
            <a:pPr lvl="0"/>
            <a:r>
              <a:t>Example: “A facilities team enters monthly energy/water data and gets instant totals and reports.”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Core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Creates a single source of truth for sustainability data</a:t>
            </a:r>
          </a:p>
          <a:p>
            <a:pPr lvl="0"/>
            <a:r>
              <a:t>Reduces manual spreadsheet work by auto-calculating emissions</a:t>
            </a:r>
          </a:p>
          <a:p>
            <a:pPr lvl="0"/>
            <a:r>
              <a:t>Improves reporting readiness (PDF, Excel, DOCX outputs)</a:t>
            </a:r>
          </a:p>
          <a:p>
            <a:pPr lvl="0"/>
            <a:r>
              <a:t>Enables collaboration through organization-scoped data</a:t>
            </a:r>
          </a:p>
          <a:p>
            <a:pPr lvl="0"/>
            <a:r>
              <a:t>Example: “Operations enters data, sustainability reviews, and management receives formatted reports.”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Authentication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Signup/login with hashed passwords (bcrypt)</a:t>
            </a:r>
          </a:p>
          <a:p>
            <a:pPr lvl="0"/>
            <a:r>
              <a:t>JWT-based authentication for protected API endpoints</a:t>
            </a:r>
          </a:p>
          <a:p>
            <a:pPr lvl="0"/>
            <a:r>
              <a:t>Session expiration enforced at 30 minutes for better security</a:t>
            </a:r>
          </a:p>
          <a:p>
            <a:pPr lvl="0"/>
            <a:r>
              <a:t>Access is organization-linked, not anonymous</a:t>
            </a:r>
          </a:p>
          <a:p>
            <a:pPr lvl="0"/>
            <a:r>
              <a:t>Example: “If a user is inactive beyond the timeout, they must re-authenticate before editing data.”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Organization and User Model (Shared Data Behavior)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t>Each user account is linked to one organization</a:t>
            </a:r>
          </a:p>
          <a:p>
            <a:pPr lvl="0"/>
            <a:r>
              <a:t>Organization is created or reused during signup</a:t>
            </a:r>
          </a:p>
          <a:p>
            <a:pPr lvl="0"/>
            <a:r>
              <a:t>Users in the same organization share core datasets</a:t>
            </a:r>
          </a:p>
          <a:p>
            <a:pPr lvl="0"/>
            <a:r>
              <a:t>Shared datasets include site data (</a:t>
            </a:r>
            <a:r>
              <a:rPr>
                <a:latin typeface="Courier"/>
              </a:rPr>
              <a:t>/api/data</a:t>
            </a:r>
            <a:r>
              <a:t>) and conversion factors (</a:t>
            </a:r>
            <a:r>
              <a:rPr>
                <a:latin typeface="Courier"/>
              </a:rPr>
              <a:t>/api/factors</a:t>
            </a:r>
            <a:r>
              <a:t>)</a:t>
            </a:r>
          </a:p>
          <a:p>
            <a:pPr lvl="0"/>
            <a:r>
              <a:t>Example: “User A updates Site HQ energy data; User B from the same org sees that update after sync/login.”</a:t>
            </a:r>
          </a:p>
          <a:p>
            <a:pPr lvl="0"/>
            <a:r>
              <a:t>Important note: browser preferences (dark mode/language) remain local per device/user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Data Input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Categories: Water, Energy, Waste, Transport, Refrigerants</a:t>
            </a:r>
          </a:p>
          <a:p>
            <a:pPr lvl="0"/>
            <a:r>
              <a:t>12-month input structure per row, plus description and year</a:t>
            </a:r>
          </a:p>
          <a:p>
            <a:pPr lvl="0"/>
            <a:r>
              <a:t>Emission-type selector per category (for correct factor mapping)</a:t>
            </a:r>
          </a:p>
          <a:p>
            <a:pPr lvl="0"/>
            <a:r>
              <a:t>Row-level totals and immediate recalculation on input change</a:t>
            </a:r>
          </a:p>
          <a:p>
            <a:pPr lvl="0"/>
            <a:r>
              <a:t>Example: “Selecting </a:t>
            </a:r>
            <a:r>
              <a:rPr>
                <a:latin typeface="Courier"/>
              </a:rPr>
              <a:t>naturalGas</a:t>
            </a:r>
            <a:r>
              <a:t> vs </a:t>
            </a:r>
            <a:r>
              <a:rPr>
                <a:latin typeface="Courier"/>
              </a:rPr>
              <a:t>electricity</a:t>
            </a:r>
            <a:r>
              <a:t> changes which conversion factor is applied.”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Multi-Site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Add, rename, switch, and delete sites/buildings/events</a:t>
            </a:r>
          </a:p>
          <a:p>
            <a:pPr lvl="0"/>
            <a:r>
              <a:t>Site-level storage of notes, company name context, and activity data</a:t>
            </a:r>
          </a:p>
          <a:p>
            <a:pPr lvl="0"/>
            <a:r>
              <a:t>Local cache for fast UI plus backend synchronization for persistence</a:t>
            </a:r>
          </a:p>
          <a:p>
            <a:pPr lvl="0"/>
            <a:r>
              <a:t>Background autosave behavior for reduced data loss risk</a:t>
            </a:r>
          </a:p>
          <a:p>
            <a:pPr lvl="0"/>
            <a:r>
              <a:t>Example: “An org can maintain separate data for Headquarters, Warehouse, and Retail Store.”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Conversion Factors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Baseline factor sets provided (UK and Brazil examples)</a:t>
            </a:r>
          </a:p>
          <a:p>
            <a:pPr lvl="0"/>
            <a:r>
              <a:t>Organization can import custom factors from Excel</a:t>
            </a:r>
          </a:p>
          <a:p>
            <a:pPr lvl="0"/>
            <a:r>
              <a:t>Factors can be exported for audit/review and external editing</a:t>
            </a:r>
          </a:p>
          <a:p>
            <a:pPr lvl="0"/>
            <a:r>
              <a:t>Country/database selector controls active factor set in calculations</a:t>
            </a:r>
          </a:p>
          <a:p>
            <a:pPr lvl="0"/>
            <a:r>
              <a:t>Example: “A company imports client-specific refrigerant factors and uses them in all reports.”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Calculations and Emissions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Computes category totals and grand total emissions</a:t>
            </a:r>
          </a:p>
          <a:p>
            <a:pPr lvl="0"/>
            <a:r>
              <a:t>Provides Scope 1, Scope 2, and Scope 3 breakdown</a:t>
            </a:r>
          </a:p>
          <a:p>
            <a:pPr lvl="0"/>
            <a:r>
              <a:t>Supports monthly trend and year-over-year comparison</a:t>
            </a:r>
          </a:p>
          <a:p>
            <a:pPr lvl="0"/>
            <a:r>
              <a:t>Applies selected factor database consistently across modules</a:t>
            </a:r>
          </a:p>
          <a:p>
            <a:pPr lvl="0"/>
            <a:r>
              <a:t>Example: “Transport kilometers entered monthly are converted into kgCO2e and rolled into yearly totals.”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Dashboards and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KPI cards for emissions and financial snapshots</a:t>
            </a:r>
          </a:p>
          <a:p>
            <a:pPr lvl="0"/>
            <a:r>
              <a:t>Charts: category distribution, yearly comparison, monthly trends</a:t>
            </a:r>
          </a:p>
          <a:p>
            <a:pPr lvl="0"/>
            <a:r>
              <a:t>Widget customization allows tailored executive dashboards</a:t>
            </a:r>
          </a:p>
          <a:p>
            <a:pPr lvl="0"/>
            <a:r>
              <a:t>Separate accounts visuals for cash and liabilities context</a:t>
            </a:r>
          </a:p>
          <a:p>
            <a:pPr lvl="0"/>
            <a:r>
              <a:t>Example: “Leadership can hide detailed widgets and keep only top KPIs + trend charts.”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Financial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Tracks business bank balance and savings balance</a:t>
            </a:r>
          </a:p>
          <a:p>
            <a:pPr lvl="0"/>
            <a:r>
              <a:t>Captures dated cash-in and cash-out transactions</a:t>
            </a:r>
          </a:p>
          <a:p>
            <a:pPr lvl="0"/>
            <a:r>
              <a:t>Maintains invoices owed and bills to pay summaries</a:t>
            </a:r>
          </a:p>
          <a:p>
            <a:pPr lvl="0"/>
            <a:r>
              <a:t>Supports account-level charts and monthly cashflow context</a:t>
            </a:r>
          </a:p>
          <a:p>
            <a:pPr lvl="0"/>
            <a:r>
              <a:t>Example: “Finance team enters cash transactions to align sustainability reports with business performance.”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Reporting and Exports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t>PDF exports:</a:t>
            </a:r>
          </a:p>
          <a:p>
            <a:pPr lvl="0"/>
            <a:r>
              <a:t>Carbon summary report</a:t>
            </a:r>
          </a:p>
          <a:p>
            <a:pPr lvl="0"/>
            <a:r>
              <a:t>Conversion factors report</a:t>
            </a:r>
          </a:p>
          <a:p>
            <a:pPr lvl="0"/>
            <a:r>
              <a:t>Input data summary report</a:t>
            </a:r>
          </a:p>
          <a:p>
            <a:pPr lvl="0"/>
            <a:r>
              <a:t>Input emissions report (kgCO2e)</a:t>
            </a:r>
          </a:p>
          <a:p>
            <a:pPr lvl="0"/>
            <a:r>
              <a:t>Excel export for summary, category sheets, monthly and yearly views</a:t>
            </a:r>
          </a:p>
          <a:p>
            <a:pPr lvl="0"/>
            <a:r>
              <a:t>Final DOCX report generation from branded template</a:t>
            </a:r>
          </a:p>
          <a:p>
            <a:pPr lvl="0"/>
            <a:r>
              <a:t>Example: “Consultants can send a branded DOCX final statement and an Excel workbook for audit trail.”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Localization and 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Language toggle: English and Portuguese</a:t>
            </a:r>
          </a:p>
          <a:p>
            <a:pPr lvl="0"/>
            <a:r>
              <a:t>Dark mode support for accessibility and user preference</a:t>
            </a:r>
          </a:p>
          <a:p>
            <a:pPr lvl="0"/>
            <a:r>
              <a:t>Responsive UI with print-aware rendering</a:t>
            </a:r>
          </a:p>
          <a:p>
            <a:pPr lvl="0"/>
            <a:r>
              <a:t>Inline notifications for save/export/status feedback</a:t>
            </a:r>
          </a:p>
          <a:p>
            <a:pPr lvl="0"/>
            <a:r>
              <a:t>Example: “A bilingual team can switch language live without changing stored calculations.”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Data Persistence and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MongoDB stores users, organizations, datasets, and factor databases</a:t>
            </a:r>
          </a:p>
          <a:p>
            <a:pPr lvl="0"/>
            <a:r>
              <a:t>JWT-protected API access for data operations</a:t>
            </a:r>
          </a:p>
          <a:p>
            <a:pPr lvl="0"/>
            <a:r>
              <a:t>Frontend autosave + backend sync to keep data current</a:t>
            </a:r>
          </a:p>
          <a:p>
            <a:pPr lvl="0"/>
            <a:r>
              <a:t>Streamlit integration supports hosted deployment scenarios</a:t>
            </a:r>
          </a:p>
          <a:p>
            <a:pPr lvl="0"/>
            <a:r>
              <a:t>Example: “Even after browser refresh, organization data is reloaded from backend storage.”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API Capabilities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/api/signup</a:t>
            </a:r>
            <a:r>
              <a:t> and </a:t>
            </a:r>
            <a:r>
              <a:rPr>
                <a:latin typeface="Courier"/>
              </a:rPr>
              <a:t>/api/login</a:t>
            </a:r>
            <a:r>
              <a:t> for user lifecycle and authentication</a:t>
            </a:r>
          </a:p>
          <a:p>
            <a:pPr lvl="0"/>
            <a:r>
              <a:rPr>
                <a:latin typeface="Courier"/>
              </a:rPr>
              <a:t>/api/data</a:t>
            </a:r>
            <a:r>
              <a:t> GET/POST for organization-level site/emissions data</a:t>
            </a:r>
          </a:p>
          <a:p>
            <a:pPr lvl="0"/>
            <a:r>
              <a:rPr>
                <a:latin typeface="Courier"/>
              </a:rPr>
              <a:t>/api/factors</a:t>
            </a:r>
            <a:r>
              <a:t> GET/POST for organization-level conversion factors</a:t>
            </a:r>
          </a:p>
          <a:p>
            <a:pPr lvl="0"/>
            <a:r>
              <a:rPr>
                <a:latin typeface="Courier"/>
              </a:rPr>
              <a:t>/api/reports/final</a:t>
            </a:r>
            <a:r>
              <a:t> POST for generating final DOCX report</a:t>
            </a:r>
          </a:p>
          <a:p>
            <a:pPr lvl="0"/>
            <a:r>
              <a:t>Example payload concept: “frontend sends totals, scope values, and metadata; backend returns downloadable DOCX.”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End-to-End Example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Step 1: User signs up with organization name</a:t>
            </a:r>
          </a:p>
          <a:p>
            <a:pPr lvl="0"/>
            <a:r>
              <a:t>Step 2: Adds sites and enters monthly operational data</a:t>
            </a:r>
          </a:p>
          <a:p>
            <a:pPr lvl="0"/>
            <a:r>
              <a:t>Step 3: Chooses/updates conversion factors</a:t>
            </a:r>
          </a:p>
          <a:p>
            <a:pPr lvl="0"/>
            <a:r>
              <a:t>Step 4: Reviews dashboard trends and scope totals</a:t>
            </a:r>
          </a:p>
          <a:p>
            <a:pPr lvl="0"/>
            <a:r>
              <a:t>Step 5: Exports PDF/Excel and generates final DOCX</a:t>
            </a:r>
          </a:p>
          <a:p>
            <a:pPr lvl="0"/>
            <a:r>
              <a:t>Collaboration example: “Two users in same organization contribute data and generate one shared final report.”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Suggested </a:t>
            </a:r>
            <a:r>
              <a:rPr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Role-based access control (admin/editor/viewer)</a:t>
            </a:r>
          </a:p>
          <a:p>
            <a:pPr lvl="0"/>
            <a:r>
              <a:t>Data change audit log (who changed what and when)</a:t>
            </a:r>
          </a:p>
          <a:p>
            <a:pPr lvl="0"/>
            <a:r>
              <a:t>Approval workflow for report sign-off</a:t>
            </a:r>
          </a:p>
          <a:p>
            <a:pPr lvl="0"/>
            <a:r>
              <a:t>Invite-based organization onboarding flow before user creation</a:t>
            </a:r>
          </a:p>
          <a:p>
            <a:pPr lvl="0"/>
            <a:r>
              <a:t>Enterprise SSO integration and stronger identity controls</a:t>
            </a:r>
          </a:p>
          <a:p>
            <a:pPr lvl="0"/>
            <a:r>
              <a:t>Automated anomaly detection on unusual emissions trends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988</Words>
  <Application>Microsoft Office PowerPoint</Application>
  <PresentationFormat>On-screen Show (16:9)</PresentationFormat>
  <Paragraphs>108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Courier</vt:lpstr>
      <vt:lpstr>Gill Sans MT</vt:lpstr>
      <vt:lpstr>Gallery</vt:lpstr>
      <vt:lpstr>Carbon Calculator - Features and Functionalities</vt:lpstr>
      <vt:lpstr>Title</vt:lpstr>
      <vt:lpstr>Product Overview</vt:lpstr>
      <vt:lpstr>Core Value</vt:lpstr>
      <vt:lpstr>Authentication and Security</vt:lpstr>
      <vt:lpstr>Organization and User Model (Shared Data Behavior)</vt:lpstr>
      <vt:lpstr>Data Input Modules</vt:lpstr>
      <vt:lpstr>Multi-Site Management</vt:lpstr>
      <vt:lpstr>Conversion Factors Management</vt:lpstr>
      <vt:lpstr>Calculations and Emissions Logic</vt:lpstr>
      <vt:lpstr>Dashboards and Visualization</vt:lpstr>
      <vt:lpstr>Financial Features</vt:lpstr>
      <vt:lpstr>Reporting and Exports</vt:lpstr>
      <vt:lpstr>Localization and User Experience</vt:lpstr>
      <vt:lpstr>Data Persistence and Integration</vt:lpstr>
      <vt:lpstr>API Capabilities (High Level)</vt:lpstr>
      <vt:lpstr>End-to-End Example Journey</vt:lpstr>
      <vt:lpstr>Suggested Roadmap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Calculator - Features and Functionalities</dc:title>
  <dc:creator/>
  <cp:keywords/>
  <cp:lastModifiedBy>Hamza Mehboob</cp:lastModifiedBy>
  <cp:revision>1</cp:revision>
  <dcterms:created xsi:type="dcterms:W3CDTF">2026-03-31T22:20:32Z</dcterms:created>
  <dcterms:modified xsi:type="dcterms:W3CDTF">2026-03-31T22:22:25Z</dcterms:modified>
</cp:coreProperties>
</file>